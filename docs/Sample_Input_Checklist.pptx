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6B50"/>
                </a:solidFill>
              </a:rPr>
              <a:t>样本课程输入清单（课程 → AVG 转换）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661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55555"/>
                </a:solidFill>
              </a:rPr>
              <a:t>请附上：授课 PPT（.pptx）+ 教材（PDF / Word）。填好后交给设计 Agent，先做一份 Learning Gameplay Map 供你确认。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0"/>
                </a:solidFill>
              </a:rPr>
              <a:t>1. 课程基本信息   〔🔴 必填〕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/>
              <a:t>填写说明：
课程名称、总时长、模块/章节划分、目标学员层级。并注明：你打算先切哪个模块做切片（建议挑 1 个最“有戏”的模块）。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6616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/>
              <a:t>你的填写：
_________________________________________________
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0"/>
                </a:solidFill>
              </a:rPr>
              <a:t>2. 学习目标与能力模型   〔🔴 必填〕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/>
              <a:t>填写说明：
学完这门课，学员应该“能做 / 能判断什么”？尽量用可观测的行为动词（能识别 / 能制定 / 能调解 / 能诊断…）。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6616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/>
              <a:t>你的填写：
_________________________________________________
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0"/>
                </a:solidFill>
              </a:rPr>
              <a:t>3. 学员对象与真实场景背景   〔🔴 必填〕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/>
              <a:t>填写说明：
谁在上这门课（岗位 / 层级 / 痛点）？他们日常最典型、最痛的真实工作情境是什么？决定角色人设与剧情是否接地气。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6616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/>
              <a:t>你的填写：
_________________________________________________
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0"/>
                </a:solidFill>
              </a:rPr>
              <a:t>4. 现有考核与课堂活动   〔🔴 必填〕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/>
              <a:t>填写说明：
目前怎么考？有没有小组讨论 / 角色扮演 / 案例分析？这些是直接可转成 Decision（抉择）/ Reflection（复盘）节点的金矿。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6616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/>
              <a:t>你的填写：
_________________________________________________
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0"/>
                </a:solidFill>
              </a:rPr>
              <a:t>5. 标志性案例 / 真实两难   〔🟠 建议〕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/>
              <a:t>填写说明：
课程里最出彩的那个真实故事、最纠结的抉择。这是 AVG 最好的“剧本种子”（叙事脊梁）。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6616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/>
              <a:t>你的填写：
_________________________________________________
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0"/>
                </a:solidFill>
              </a:rPr>
              <a:t>6. “好课”参照（引导话术 / 顿悟点）   〔🟠 建议〕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/>
              <a:t>填写说明：
你心目中“好课”长什么样：有没有引导话术、DM 脚本、或“学员顿悟的那一刻”？直接影响 Reflection 设计。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6616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/>
              <a:t>你的填写：
_________________________________________________
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0"/>
                </a:solidFill>
              </a:rPr>
              <a:t>7. 品牌 / 视觉 / 脱敏要求   〔🟡 包装〕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/>
              <a:t>填写说明：
能否用真实公司名？要不要统一色调 / 字体？脱敏与合规要求（不外泄真实姓名等）。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6616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/>
              <a:t>你的填写：
_________________________________________________
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0"/>
                </a:solidFill>
              </a:rPr>
              <a:t>8. 期望产出形态   〔🟡 包装〕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/>
              <a:t>填写说明：
纯剧本杀式 / 轻量分支 / 两者混合？决定离线包的组件构成与 DM 工作量。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6616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/>
              <a:t>你的填写：
_________________________________________________
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0"/>
                </a:solidFill>
              </a:rPr>
              <a:t>9. 试点成功标准   〔🟡 验收〕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/>
              <a:t>填写说明：
这份样本做到什么程度算“成了”（能试玩？能打印？能真用于一期培训？）。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6616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/>
              <a:t>你的填写：
_________________________________________________
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0"/>
                </a:solidFill>
              </a:rPr>
              <a:t>10. 文件清单（附 PPT + 教材）   〔🔴 必填〕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/>
              <a:t>填写说明：
列出你附上的文件：授课 PPT 路径、教材（PDF/Word）路径，并简述每份文件讲什么。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6616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/>
              <a:t>你的填写：
_________________________________________________
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0"/>
                </a:solidFill>
              </a:rPr>
              <a:t>11. 分层与前置判定（Tier × Track）   〔🟠 建议〕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/>
              <a:t>填写说明：
这门课打算做成哪一层？——L1 轻量切片 3h / L2 标准单元 7h / L3 深度系列 14h（AVG 探索固定占 50%）。哪一类？——C1 通用改编（已有课程转译）/ C2 定制业务赋能（从业务目标萃取构建）。给出非 AVG 50% 内 导入/复盘/应用/IDP 的大致分配。Intake Agent 会复核此判定。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6616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/>
              <a:t>你的填写：
_________________________________________________
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6B50"/>
                </a:solidFill>
              </a:rPr>
              <a:t>情境领导课程 · 示范填写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E6B50"/>
                </a:solidFill>
              </a:rPr>
              <a:t>1 · 课程基本信息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/>
              <a:t>《情境领导®（Situational Leadership®）》企业内训；1 天（6.5h）；模块：①领导风格认知 ②成熟度诊断 ③风格匹配 ④授权与跟进；目标学员：新任 / 中层经理。先切模块③“风格匹配”做切片（最有戏、最易成 Decision 节点）。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E6B50"/>
                </a:solidFill>
              </a:rPr>
              <a:t>2 · 学习目标与能力模型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/>
              <a:t>学完学员能——(a) 判定下属在“任务 / 关系”维度的成熟度（R1–R4）；(b) 在 S1–S4 四种领导风格中匹配正确风格；(c) 在下属成熟度变化时动态调整。行为动词：能诊断、能匹配、能调整。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E6B50"/>
                </a:solidFill>
              </a:rPr>
              <a:t>3 · 学员对象与真实场景背景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/>
              <a:t>新任经理（带 3–8 人团队，0–2 年管理经验）。真实情境：下属突然业绩下滑 / 资深下属不服管 / 新人频繁求助却不敢放手。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E6B50"/>
                </a:solidFill>
              </a:rPr>
              <a:t>4 · 现有考核与课堂活动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/>
              <a:t>现用“风格-成熟度匹配测验”+ 角色扮演（给一个下属画像，让学员选风格并说明理由）；小组讨论“最难的带人场景”。→ 角色扮演可直接转 Decision 节点，小组讨论转 Reflection。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E6B50"/>
                </a:solidFill>
              </a:rPr>
              <a:t>5 · 标志性案例 / 真实两难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/>
              <a:t>“老周的两难”——技术骨干老周被提拔成主管，仍习惯自己上手，团队怨声载道；上级要求他“放权”但项目紧急。这是真实两难（S1 指令式 vs S3 参与式拉扯），绝佳剧本种子。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E6B50"/>
                </a:solidFill>
              </a:rPr>
              <a:t>6 · “好课”参照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/>
              <a:t>顿悟时刻是“原来不是下属不行，是我用错了风格”。引导话术示例：“如果你是这个主管，此刻你最怕什么？”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E6B50"/>
                </a:solidFill>
              </a:rPr>
              <a:t>7 · 品牌 / 视觉 / 脱敏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/>
              <a:t>可用客户内部案例（脱敏），主色沿用客户品牌蓝；不外泄真实姓名；物料印刷需 CMYK 合规。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E6B50"/>
                </a:solidFill>
              </a:rPr>
              <a:t>8 · 期望产出形态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/>
              <a:t>剧本杀式（主管扮演 + 下属 NPC + 抉择）+ 轻量分支复盘。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E6B50"/>
                </a:solidFill>
              </a:rPr>
              <a:t>9 · 试点成功标准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/>
              <a:t>能打印成离线包、由客户内部讲师带 1 期 20 人工作坊、学员产出“我的风格调整行动计划”。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E6B50"/>
                </a:solidFill>
              </a:rPr>
              <a:t>10 · 文件清单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/>
              <a:t>授课 PPT：SL_PPT.pptx（含四模块、匹配测验）；教材：SL_Manual.pdf（情境领导原著节选 + 案例）。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E6B50"/>
                </a:solidFill>
              </a:rPr>
              <a:t>11 · 分层与前置判定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/>
              <a:t>Tier = L2 标准单元（7h：AVG 3.5h + 非 AVG 3.5h）；Track = C1 通用改编（情境领导已有完整课件）。非 AVG 50% 分配：导入 0.9h / 复盘 1.05h / 应用 0.9h / IDP 0.7h。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6B50"/>
                </a:solidFill>
              </a:rPr>
              <a:t>课程 → Pipeline 映射示意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【第 0 步 课程准入与分层判定 Intake &amp; Tiering】→ 课程 → 能力(Capability) → 行为(Behavior) → 挑战(Challenge) → 探索(Exploration) → 抉择(Decision) → 后果(Consequence) → 成长(Growth) → 结局(Ending) → 复盘(Reflection) → 【应用迁移桥 Application · 强制】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